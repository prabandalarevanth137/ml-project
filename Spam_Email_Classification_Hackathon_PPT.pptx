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4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29600" y="1874519"/>
            <a:ext cx="2651760" cy="1828800"/>
          </a:xfrm>
          <a:prstGeom prst="roundRect">
            <a:avLst/>
          </a:prstGeom>
          <a:solidFill>
            <a:srgbClr val="1E3552"/>
          </a:solidFill>
          <a:ln w="25400">
            <a:solidFill>
              <a:srgbClr val="1D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8302752" y="1965960"/>
            <a:ext cx="1252728" cy="822960"/>
          </a:xfrm>
          <a:prstGeom prst="line">
            <a:avLst/>
          </a:prstGeom>
          <a:ln w="25400">
            <a:solidFill>
              <a:srgbClr val="1D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9555480" y="1965960"/>
            <a:ext cx="1252728" cy="822960"/>
          </a:xfrm>
          <a:prstGeom prst="line">
            <a:avLst/>
          </a:prstGeom>
          <a:ln w="25400">
            <a:solidFill>
              <a:srgbClr val="1D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144000" y="1005840"/>
            <a:ext cx="658368" cy="658368"/>
          </a:xfrm>
          <a:prstGeom prst="ellipse">
            <a:avLst/>
          </a:prstGeom>
          <a:solidFill>
            <a:srgbClr val="4CC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0" y="1033272"/>
            <a:ext cx="658368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D192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5836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DB8A6"/>
                </a:solidFill>
                <a:latin typeface="Aptos"/>
              </a:defRPr>
            </a:pPr>
            <a:r>
              <a:t>MACHINE LEARNING • HACKATHON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25880"/>
            <a:ext cx="7772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8FAFC"/>
                </a:solidFill>
                <a:latin typeface="Aptos"/>
              </a:defRPr>
            </a:pPr>
            <a:r>
              <a:t>Spam Email</a:t>
            </a:r>
            <a:br/>
            <a:r>
              <a:t>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26080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EC9DC"/>
                </a:solidFill>
                <a:latin typeface="Aptos"/>
              </a:defRPr>
            </a:pPr>
            <a:r>
              <a:t>Using Decision Trees &amp; Cross-Validation 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794760"/>
            <a:ext cx="6949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1BFD0"/>
                </a:solidFill>
                <a:latin typeface="Aptos"/>
              </a:defRPr>
            </a:pPr>
            <a:r>
              <a:t>A supervised learning approach to automatically distinguish unwanted emails from legitimate messages.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892040"/>
            <a:ext cx="1554480" cy="347472"/>
          </a:xfrm>
          <a:prstGeom prst="roundRect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4910327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23160" y="4892040"/>
            <a:ext cx="1737360" cy="347472"/>
          </a:xfrm>
          <a:prstGeom prst="roundRect">
            <a:avLst/>
          </a:prstGeom>
          <a:solidFill>
            <a:srgbClr val="3EC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23160" y="491032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5-FOLD CV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892040"/>
            <a:ext cx="1508760" cy="347472"/>
          </a:xfrm>
          <a:prstGeom prst="roundRect">
            <a:avLst/>
          </a:prstGeom>
          <a:solidFill>
            <a:srgbClr val="F7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0" y="4910327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80644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1BFD0"/>
                </a:solidFill>
                <a:latin typeface="Aptos"/>
              </a:defRPr>
            </a:pPr>
            <a:r>
              <a:t>Team: ____________________    |    Department: ____________________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92240"/>
            <a:ext cx="11018520" cy="13716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65288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D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502920"/>
            <a:ext cx="73152" cy="594360"/>
          </a:xfrm>
          <a:prstGeom prst="rect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FD0"/>
                </a:solidFill>
                <a:latin typeface="Aptos"/>
              </a:defRPr>
            </a:pPr>
            <a:r>
              <a:t>Why automated spam detection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1018520" cy="13716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D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6675120" cy="443484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37360"/>
            <a:ext cx="6126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FAFC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6080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1BFD0"/>
                </a:solidFill>
                <a:latin typeface="Aptos"/>
              </a:defRPr>
            </a:pPr>
            <a:r>
              <a:t>Email users receive legitimate messages mixed with advertisements, scams, phishing attempts and other unwanted content. Manual filtering is slow and inconsistent.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03320"/>
            <a:ext cx="6080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DB8A6"/>
                </a:solidFill>
                <a:latin typeface="Aptos"/>
              </a:defRPr>
            </a:pPr>
            <a:r>
              <a:t>Project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60520"/>
            <a:ext cx="6080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8FAFC"/>
                </a:solidFill>
                <a:latin typeface="Aptos"/>
              </a:defRPr>
            </a:pPr>
            <a:r>
              <a:t>Can a Decision Tree learn useful patterns from email text and reliably classify new messages as Spam or Ham?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417320"/>
            <a:ext cx="3840480" cy="4434840"/>
          </a:xfrm>
          <a:prstGeom prst="roundRect">
            <a:avLst/>
          </a:prstGeom>
          <a:solidFill>
            <a:srgbClr val="12223A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052560" y="1783080"/>
            <a:ext cx="731520" cy="731520"/>
          </a:xfrm>
          <a:prstGeom prst="ellipse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2560" y="1810512"/>
            <a:ext cx="73152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8FAFC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43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8FAFC"/>
                </a:solidFill>
                <a:latin typeface="Aptos"/>
              </a:defRPr>
            </a:pPr>
            <a:r>
              <a:t>Risks of spam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3383280"/>
            <a:ext cx="2560320" cy="365760"/>
          </a:xfrm>
          <a:prstGeom prst="roundRect">
            <a:avLst/>
          </a:prstGeom>
          <a:solidFill>
            <a:srgbClr val="1D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341985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5B5B"/>
                </a:solidFill>
                <a:latin typeface="Aptos"/>
              </a:defRPr>
            </a:pPr>
            <a:r>
              <a:t>Phishing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3886200"/>
            <a:ext cx="2560320" cy="365760"/>
          </a:xfrm>
          <a:prstGeom prst="roundRect">
            <a:avLst/>
          </a:prstGeom>
          <a:solidFill>
            <a:srgbClr val="1D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392277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7A646"/>
                </a:solidFill>
                <a:latin typeface="Aptos"/>
              </a:defRPr>
            </a:pPr>
            <a:r>
              <a:t>Fraud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389120"/>
            <a:ext cx="2560320" cy="365760"/>
          </a:xfrm>
          <a:prstGeom prst="roundRect">
            <a:avLst/>
          </a:prstGeom>
          <a:solidFill>
            <a:srgbClr val="1D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40" y="442569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5B5B"/>
                </a:solidFill>
                <a:latin typeface="Aptos"/>
              </a:defRPr>
            </a:pPr>
            <a:r>
              <a:t>Malware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4892040"/>
            <a:ext cx="2560320" cy="365760"/>
          </a:xfrm>
          <a:prstGeom prst="roundRect">
            <a:avLst/>
          </a:prstGeom>
          <a:solidFill>
            <a:srgbClr val="1D3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4928616"/>
            <a:ext cx="2468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EC9DC"/>
                </a:solidFill>
                <a:latin typeface="Aptos"/>
              </a:defRPr>
            </a:pPr>
            <a:r>
              <a:t>Inbox overload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502920"/>
            <a:ext cx="73152" cy="594360"/>
          </a:xfrm>
          <a:prstGeom prst="rect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FD0"/>
                </a:solidFill>
                <a:latin typeface="Aptos"/>
              </a:defRPr>
            </a:pPr>
            <a:r>
              <a:t>What the project is designed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1018520" cy="13716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D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3429000" cy="1874519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14400" y="1673352"/>
            <a:ext cx="530352" cy="530352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00784"/>
            <a:ext cx="5303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92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67335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FD0"/>
                </a:solidFill>
                <a:latin typeface="Aptos"/>
              </a:defRPr>
            </a:pPr>
            <a:r>
              <a:t>Select and prepare a labeled spam/ham email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417320"/>
            <a:ext cx="3429000" cy="1874519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709160" y="1673352"/>
            <a:ext cx="530352" cy="530352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1700784"/>
            <a:ext cx="5303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92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167335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FD0"/>
                </a:solidFill>
                <a:latin typeface="Aptos"/>
              </a:defRPr>
            </a:pPr>
            <a:r>
              <a:t>Explore class balance, message length and word patterns.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417320"/>
            <a:ext cx="3429000" cy="1874519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03920" y="1673352"/>
            <a:ext cx="530352" cy="530352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1700784"/>
            <a:ext cx="5303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92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167335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2860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FD0"/>
                </a:solidFill>
                <a:latin typeface="Aptos"/>
              </a:defRPr>
            </a:pPr>
            <a:r>
              <a:t>Train a Decision Tree using TF-IDF text features.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657600"/>
            <a:ext cx="3429000" cy="1874519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3913632"/>
            <a:ext cx="530352" cy="530352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941064"/>
            <a:ext cx="5303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92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391363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FD0"/>
                </a:solidFill>
                <a:latin typeface="Aptos"/>
              </a:defRPr>
            </a:pPr>
            <a:r>
              <a:t>Use stratified 5-fold cross-validation for robust evaluation.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3657600"/>
            <a:ext cx="3429000" cy="1874519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709160" y="3913632"/>
            <a:ext cx="530352" cy="530352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09160" y="3941064"/>
            <a:ext cx="530352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92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391363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8FAFC"/>
                </a:solidFill>
                <a:latin typeface="Aptos"/>
              </a:defRPr>
            </a:pPr>
            <a:r>
              <a:t>Prototype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452628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B1BFD0"/>
                </a:solidFill>
                <a:latin typeface="Aptos"/>
              </a:defRPr>
            </a:pPr>
            <a:r>
              <a:t>Create a simple interface for real-time classification.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5486400"/>
            <a:ext cx="3429000" cy="658368"/>
          </a:xfrm>
          <a:prstGeom prst="roundRect">
            <a:avLst/>
          </a:prstGeom>
          <a:solidFill>
            <a:srgbClr val="162B40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17720" y="5650992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DB8A6"/>
                </a:solidFill>
                <a:latin typeface="Aptos"/>
              </a:defRPr>
            </a:pPr>
            <a:r>
              <a:t>Outcome: reliable, explainable spam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502920"/>
            <a:ext cx="73152" cy="594360"/>
          </a:xfrm>
          <a:prstGeom prst="rect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Dataset &amp;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FD0"/>
                </a:solidFill>
                <a:latin typeface="Aptos"/>
              </a:defRPr>
            </a:pPr>
            <a:r>
              <a:t>Recommended: SpamAssassin Public Corpus or another labeled email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1018520" cy="13716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D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71600"/>
            <a:ext cx="3657600" cy="452628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"/>
              </a:defRPr>
            </a:pPr>
            <a:r>
              <a:t>Dataset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B8A6"/>
                </a:solidFill>
                <a:latin typeface="Aptos"/>
              </a:defRPr>
            </a:pPr>
            <a:r>
              <a:t>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Aptos"/>
              </a:defRPr>
            </a:pPr>
            <a:r>
              <a:t>Spam / Ham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9443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B8A6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944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Aptos"/>
              </a:defRPr>
            </a:pPr>
            <a:r>
              <a:t>Raw email 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557015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B8A6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5570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Aptos"/>
              </a:defRPr>
            </a:pPr>
            <a:r>
              <a:t>Binary label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696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B8A6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6966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Aptos"/>
              </a:defRPr>
            </a:pPr>
            <a:r>
              <a:t>Public labeled corpus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7823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B8A6"/>
                </a:solidFill>
                <a:latin typeface="Aptos"/>
              </a:defRPr>
            </a:pPr>
            <a:r>
              <a:t>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782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8FAFC"/>
                </a:solidFill>
                <a:latin typeface="Aptos"/>
              </a:defRPr>
            </a:pPr>
            <a:r>
              <a:t>Train /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1664208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"/>
              </a:defRPr>
            </a:pPr>
            <a:r>
              <a:t>Preprocessing pipeline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423160"/>
            <a:ext cx="1115568" cy="1828800"/>
          </a:xfrm>
          <a:prstGeom prst="roundRect">
            <a:avLst/>
          </a:prstGeom>
          <a:solidFill>
            <a:srgbClr val="142A40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937759" y="2633472"/>
            <a:ext cx="548640" cy="548640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937759" y="2660903"/>
            <a:ext cx="548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92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331012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RAW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3675887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B1BFD0"/>
                </a:solidFill>
                <a:latin typeface="Aptos"/>
              </a:defRPr>
            </a:pPr>
            <a:r>
              <a:t>Email body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779007" y="3337560"/>
            <a:ext cx="210313" cy="0"/>
          </a:xfrm>
          <a:prstGeom prst="line">
            <a:avLst/>
          </a:prstGeom>
          <a:ln w="25400">
            <a:solidFill>
              <a:srgbClr val="1D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007607" y="2423160"/>
            <a:ext cx="1115568" cy="1828800"/>
          </a:xfrm>
          <a:prstGeom prst="roundRect">
            <a:avLst/>
          </a:prstGeom>
          <a:solidFill>
            <a:srgbClr val="142A40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281927" y="2633472"/>
            <a:ext cx="548640" cy="548640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81927" y="2660903"/>
            <a:ext cx="548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92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331012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CLEAN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3675887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B1BFD0"/>
                </a:solidFill>
                <a:latin typeface="Aptos"/>
              </a:defRPr>
            </a:pPr>
            <a:r>
              <a:t>Lowercase</a:t>
            </a:r>
            <a:br/>
            <a:r>
              <a:t>Noise removal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23175" y="3337560"/>
            <a:ext cx="210313" cy="0"/>
          </a:xfrm>
          <a:prstGeom prst="line">
            <a:avLst/>
          </a:prstGeom>
          <a:ln w="25400">
            <a:solidFill>
              <a:srgbClr val="1D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351775" y="2423160"/>
            <a:ext cx="1115568" cy="1828800"/>
          </a:xfrm>
          <a:prstGeom prst="roundRect">
            <a:avLst/>
          </a:prstGeom>
          <a:solidFill>
            <a:srgbClr val="142A40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626096" y="2633472"/>
            <a:ext cx="548640" cy="548640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26096" y="2660903"/>
            <a:ext cx="548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92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24927" y="331012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TOKEN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4927" y="3675887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B1BFD0"/>
                </a:solidFill>
                <a:latin typeface="Aptos"/>
              </a:defRPr>
            </a:pPr>
            <a:r>
              <a:t>Words / tokens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467344" y="3337560"/>
            <a:ext cx="210311" cy="0"/>
          </a:xfrm>
          <a:prstGeom prst="line">
            <a:avLst/>
          </a:prstGeom>
          <a:ln w="25400">
            <a:solidFill>
              <a:srgbClr val="1D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695944" y="2423160"/>
            <a:ext cx="1115568" cy="1828800"/>
          </a:xfrm>
          <a:prstGeom prst="roundRect">
            <a:avLst/>
          </a:prstGeom>
          <a:solidFill>
            <a:srgbClr val="142A40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970264" y="2633472"/>
            <a:ext cx="548640" cy="548640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70264" y="2660903"/>
            <a:ext cx="548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92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69096" y="331012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69096" y="3675887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B1BFD0"/>
                </a:solidFill>
                <a:latin typeface="Aptos"/>
              </a:defRPr>
            </a:pPr>
            <a:r>
              <a:t>Numeric vectors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811512" y="3337560"/>
            <a:ext cx="210312" cy="0"/>
          </a:xfrm>
          <a:prstGeom prst="line">
            <a:avLst/>
          </a:prstGeom>
          <a:ln w="25400">
            <a:solidFill>
              <a:srgbClr val="1DB8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040112" y="2423160"/>
            <a:ext cx="1115568" cy="1828800"/>
          </a:xfrm>
          <a:prstGeom prst="roundRect">
            <a:avLst/>
          </a:prstGeom>
          <a:solidFill>
            <a:srgbClr val="142A40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0314432" y="2633472"/>
            <a:ext cx="548640" cy="548640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14432" y="2660903"/>
            <a:ext cx="5486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92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13264" y="3310128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8FAFC"/>
                </a:solidFill>
                <a:latin typeface="Aptos"/>
              </a:defRPr>
            </a:pPr>
            <a:r>
              <a:t>TREE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13264" y="3675887"/>
            <a:ext cx="960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B1BFD0"/>
                </a:solidFill>
                <a:latin typeface="Aptos"/>
              </a:defRPr>
            </a:pPr>
            <a:r>
              <a:t>Model-ready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09160" y="48920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7A646"/>
                </a:solidFill>
                <a:latin typeface="Aptos"/>
              </a:defRPr>
            </a:pPr>
            <a:r>
              <a:t>Important: fit TF-IDF on the training folds only to avoid data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502920"/>
            <a:ext cx="73152" cy="594360"/>
          </a:xfrm>
          <a:prstGeom prst="rect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Decision Tree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FD0"/>
                </a:solidFill>
                <a:latin typeface="Aptos"/>
              </a:defRPr>
            </a:pPr>
            <a:r>
              <a:t>An interpretable supervised learning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1018520" cy="13716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D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How the classifier makes a decision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2011680"/>
            <a:ext cx="2377440" cy="658368"/>
          </a:xfrm>
          <a:prstGeom prst="roundRect">
            <a:avLst/>
          </a:prstGeom>
          <a:solidFill>
            <a:srgbClr val="142642"/>
          </a:solidFill>
          <a:ln w="19050">
            <a:solidFill>
              <a:srgbClr val="1D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37360" y="2084832"/>
            <a:ext cx="2377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t>TF-IDF feature &gt; threshold?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29000"/>
            <a:ext cx="2011680" cy="658368"/>
          </a:xfrm>
          <a:prstGeom prst="roundRect">
            <a:avLst/>
          </a:prstGeom>
          <a:solidFill>
            <a:srgbClr val="404D35"/>
          </a:solidFill>
          <a:ln w="19050">
            <a:solidFill>
              <a:srgbClr val="1D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3502152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t>YES → suspicious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39" y="3429000"/>
            <a:ext cx="2011680" cy="658368"/>
          </a:xfrm>
          <a:prstGeom prst="roundRect">
            <a:avLst/>
          </a:prstGeom>
          <a:solidFill>
            <a:srgbClr val="2C3F4B"/>
          </a:solidFill>
          <a:ln w="19050">
            <a:solidFill>
              <a:srgbClr val="1D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49039" y="3502152"/>
            <a:ext cx="2011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t>NO → normal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754880"/>
            <a:ext cx="2194560" cy="658368"/>
          </a:xfrm>
          <a:prstGeom prst="roundRect">
            <a:avLst/>
          </a:prstGeom>
          <a:solidFill>
            <a:srgbClr val="EF5B5B"/>
          </a:solidFill>
          <a:ln w="19050">
            <a:solidFill>
              <a:srgbClr val="1D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4828032"/>
            <a:ext cx="2194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t>SPAM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4754880"/>
            <a:ext cx="2194560" cy="658368"/>
          </a:xfrm>
          <a:prstGeom prst="roundRect">
            <a:avLst/>
          </a:prstGeom>
          <a:solidFill>
            <a:srgbClr val="4CC98C"/>
          </a:solidFill>
          <a:ln w="19050">
            <a:solidFill>
              <a:srgbClr val="1D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4828032"/>
            <a:ext cx="219456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Aptos"/>
              </a:defRPr>
            </a:pPr>
            <a:r>
              <a:t>HAM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783080" y="2670048"/>
            <a:ext cx="1143000" cy="758952"/>
          </a:xfrm>
          <a:prstGeom prst="line">
            <a:avLst/>
          </a:prstGeom>
          <a:ln w="19050">
            <a:solidFill>
              <a:srgbClr val="B1B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926080" y="2670048"/>
            <a:ext cx="1828800" cy="758952"/>
          </a:xfrm>
          <a:prstGeom prst="line">
            <a:avLst/>
          </a:prstGeom>
          <a:ln w="19050">
            <a:solidFill>
              <a:srgbClr val="B1B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508760" y="4087368"/>
            <a:ext cx="274320" cy="667512"/>
          </a:xfrm>
          <a:prstGeom prst="line">
            <a:avLst/>
          </a:prstGeom>
          <a:ln w="19050">
            <a:solidFill>
              <a:srgbClr val="B1B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663440" y="4087368"/>
            <a:ext cx="91440" cy="667512"/>
          </a:xfrm>
          <a:prstGeom prst="line">
            <a:avLst/>
          </a:prstGeom>
          <a:ln w="19050">
            <a:solidFill>
              <a:srgbClr val="B1BF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29400" y="1463040"/>
            <a:ext cx="4800600" cy="452628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1783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ptos"/>
              </a:defRPr>
            </a:pPr>
            <a:r>
              <a:t>Why Decision Tree?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331720"/>
            <a:ext cx="39776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Easy to interpret and explain during a demo</a:t>
            </a:r>
          </a:p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Captures non-linear decision boundaries</a:t>
            </a:r>
          </a:p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Works naturally for binary classification</a:t>
            </a:r>
          </a:p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Feature importance can be inspected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8920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7A646"/>
                </a:solidFill>
                <a:latin typeface="Aptos"/>
              </a:defRPr>
            </a:pPr>
            <a:r>
              <a:t>Tune: max_depth • min_samples_split • criterion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502920"/>
            <a:ext cx="73152" cy="594360"/>
          </a:xfrm>
          <a:prstGeom prst="rect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Cross-Validation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FD0"/>
                </a:solidFill>
                <a:latin typeface="Aptos"/>
              </a:defRPr>
            </a:pPr>
            <a:r>
              <a:t>5-fold stratified cross-validation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1018520" cy="13716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D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One dataset → five validation rounds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05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1BFD0"/>
                </a:solidFill>
                <a:latin typeface="Aptos"/>
              </a:defRPr>
            </a:pPr>
            <a:r>
              <a:t>Fold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057400"/>
            <a:ext cx="621792" cy="411480"/>
          </a:xfrm>
          <a:prstGeom prst="roundRect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17320" y="21396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D192D"/>
                </a:solidFill>
                <a:latin typeface="Aptos"/>
              </a:defRPr>
            </a:pPr>
            <a:r>
              <a:t>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0552" y="20574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30552" y="21396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3784" y="20574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43784" y="21396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57015" y="20574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57015" y="21396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70248" y="20574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0248" y="21396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8163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1BFD0"/>
                </a:solidFill>
                <a:latin typeface="Aptos"/>
              </a:defRPr>
            </a:pPr>
            <a:r>
              <a:t>Fold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17320" y="27432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28254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30552" y="2743200"/>
            <a:ext cx="621792" cy="411480"/>
          </a:xfrm>
          <a:prstGeom prst="roundRect">
            <a:avLst/>
          </a:prstGeom>
          <a:solidFill>
            <a:srgbClr val="3EC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30552" y="28254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D192D"/>
                </a:solidFill>
                <a:latin typeface="Aptos"/>
              </a:defRPr>
            </a:pPr>
            <a:r>
              <a:t>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43784" y="27432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843784" y="28254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57015" y="27432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57015" y="28254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0248" y="27432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70248" y="28254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5021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1BFD0"/>
                </a:solidFill>
                <a:latin typeface="Aptos"/>
              </a:defRPr>
            </a:pPr>
            <a:r>
              <a:t>Fold 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17320" y="34290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417320" y="35112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30552" y="34290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30552" y="35112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43784" y="3429000"/>
            <a:ext cx="621792" cy="411480"/>
          </a:xfrm>
          <a:prstGeom prst="roundRect">
            <a:avLst/>
          </a:prstGeom>
          <a:solidFill>
            <a:srgbClr val="F7A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843784" y="35112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D192D"/>
                </a:solidFill>
                <a:latin typeface="Aptos"/>
              </a:defRPr>
            </a:pPr>
            <a:r>
              <a:t>VAL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57015" y="34290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57015" y="35112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70248" y="34290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70248" y="35112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41879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1BFD0"/>
                </a:solidFill>
                <a:latin typeface="Aptos"/>
              </a:defRPr>
            </a:pPr>
            <a:r>
              <a:t>Fold 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17320" y="41148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417320" y="41970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30552" y="41148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130552" y="41970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43784" y="41148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843784" y="41970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57015" y="4114800"/>
            <a:ext cx="621792" cy="411480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557015" y="41970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D192D"/>
                </a:solidFill>
                <a:latin typeface="Aptos"/>
              </a:defRPr>
            </a:pPr>
            <a:r>
              <a:t>VAL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70248" y="41148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70248" y="41970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487375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1BFD0"/>
                </a:solidFill>
                <a:latin typeface="Aptos"/>
              </a:defRPr>
            </a:pPr>
            <a:r>
              <a:t>Fold 5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17320" y="48006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417320" y="48828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130552" y="48006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130552" y="48828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843784" y="48006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43784" y="48828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557015" y="4800600"/>
            <a:ext cx="621792" cy="411480"/>
          </a:xfrm>
          <a:prstGeom prst="roundRect">
            <a:avLst/>
          </a:prstGeom>
          <a:solidFill>
            <a:srgbClr val="2A3D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557015" y="48828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B1BFD0"/>
                </a:solidFill>
                <a:latin typeface="Aptos"/>
              </a:defRPr>
            </a:pPr>
            <a:r>
              <a:t>TR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70248" y="4800600"/>
            <a:ext cx="621792" cy="411480"/>
          </a:xfrm>
          <a:prstGeom prst="roundRect">
            <a:avLst/>
          </a:prstGeom>
          <a:solidFill>
            <a:srgbClr val="4CC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270248" y="4882896"/>
            <a:ext cx="6217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D192D"/>
                </a:solidFill>
                <a:latin typeface="Aptos"/>
              </a:defRPr>
            </a:pPr>
            <a:r>
              <a:t>VAL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17320" y="5715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DB8A6"/>
                </a:solidFill>
                <a:latin typeface="Aptos"/>
              </a:defRPr>
            </a:pPr>
            <a:r>
              <a:t>Average validation score = mean of 5 rounds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26480" y="1417320"/>
            <a:ext cx="5257800" cy="452628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4652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8FAFC"/>
                </a:solidFill>
                <a:latin typeface="Aptos"/>
              </a:defRPr>
            </a:pPr>
            <a:r>
              <a:t>Why cross-validation?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2331720"/>
            <a:ext cx="4343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Reduces dependence on one random split</a:t>
            </a:r>
          </a:p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Uses every training sample for validation</a:t>
            </a:r>
          </a:p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Provides mean ± standard deviation</a:t>
            </a:r>
          </a:p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Helps detect overfitting and unstable models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446520" y="5166360"/>
            <a:ext cx="2057400" cy="347472"/>
          </a:xfrm>
          <a:prstGeom prst="roundRect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46520" y="5184648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STRATIFIED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641080" y="5166360"/>
            <a:ext cx="1783080" cy="347472"/>
          </a:xfrm>
          <a:prstGeom prst="roundRect">
            <a:avLst/>
          </a:prstGeom>
          <a:solidFill>
            <a:srgbClr val="3EC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641080" y="5184648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K =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502920"/>
            <a:ext cx="73152" cy="594360"/>
          </a:xfrm>
          <a:prstGeom prst="rect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Prototype /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FD0"/>
                </a:solidFill>
                <a:latin typeface="Aptos"/>
              </a:defRPr>
            </a:pPr>
            <a:r>
              <a:t>Simple interface for real-time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1018520" cy="13716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D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6766560" cy="4709160"/>
          </a:xfrm>
          <a:prstGeom prst="roundRect">
            <a:avLst/>
          </a:prstGeom>
          <a:solidFill>
            <a:srgbClr val="F4F7F9"/>
          </a:solidFill>
          <a:ln w="12700">
            <a:solidFill>
              <a:srgbClr val="F4F7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92D"/>
                </a:solidFill>
                <a:latin typeface="Aptos"/>
              </a:defRPr>
            </a:pPr>
            <a:r>
              <a:t>SPAM EMAIL CLASSIFIER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148840"/>
            <a:ext cx="608076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CD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80160" y="2395728"/>
            <a:ext cx="5577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293B"/>
                </a:solidFill>
                <a:latin typeface="Aptos"/>
              </a:defRPr>
            </a:pPr>
            <a:r>
              <a:t>Congratulations! You have won a free prize.</a:t>
            </a:r>
            <a:br/>
            <a:r>
              <a:t>Click the link now to claim your reward!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4114800"/>
            <a:ext cx="2011680" cy="502920"/>
          </a:xfrm>
          <a:prstGeom prst="roundRect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422452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192D"/>
                </a:solidFill>
                <a:latin typeface="Aptos"/>
              </a:defRPr>
            </a:pPr>
            <a:r>
              <a:t>CLASSIFY EMAIL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114800"/>
            <a:ext cx="3794760" cy="960120"/>
          </a:xfrm>
          <a:prstGeom prst="roundRect">
            <a:avLst/>
          </a:prstGeom>
          <a:solidFill>
            <a:srgbClr val="E5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42793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F5B5B"/>
                </a:solidFill>
                <a:latin typeface="Aptos"/>
              </a:defRPr>
            </a:pPr>
            <a:r>
              <a:t>Prediction: SPAM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645152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E293B"/>
                </a:solidFill>
                <a:latin typeface="Aptos"/>
              </a:defRPr>
            </a:pPr>
            <a:r>
              <a:t>Example UI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325880"/>
            <a:ext cx="3566160" cy="47091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66420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FAFC"/>
                </a:solidFill>
                <a:latin typeface="Aptos"/>
              </a:defRPr>
            </a:pPr>
            <a:r>
              <a:t>Suggested stack</a:t>
            </a:r>
          </a:p>
        </p:txBody>
      </p:sp>
      <p:sp>
        <p:nvSpPr>
          <p:cNvPr id="19" name="Oval 18"/>
          <p:cNvSpPr/>
          <p:nvPr/>
        </p:nvSpPr>
        <p:spPr>
          <a:xfrm>
            <a:off x="8275320" y="2331720"/>
            <a:ext cx="384048" cy="384048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20" y="2359151"/>
            <a:ext cx="38404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377439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2" name="Oval 21"/>
          <p:cNvSpPr/>
          <p:nvPr/>
        </p:nvSpPr>
        <p:spPr>
          <a:xfrm>
            <a:off x="8275320" y="2953512"/>
            <a:ext cx="384048" cy="384048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5320" y="2980944"/>
            <a:ext cx="38404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299923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Pandas / NumPy</a:t>
            </a:r>
          </a:p>
        </p:txBody>
      </p:sp>
      <p:sp>
        <p:nvSpPr>
          <p:cNvPr id="25" name="Oval 24"/>
          <p:cNvSpPr/>
          <p:nvPr/>
        </p:nvSpPr>
        <p:spPr>
          <a:xfrm>
            <a:off x="8275320" y="3575304"/>
            <a:ext cx="384048" cy="384048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3602736"/>
            <a:ext cx="38404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362102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28" name="Oval 27"/>
          <p:cNvSpPr/>
          <p:nvPr/>
        </p:nvSpPr>
        <p:spPr>
          <a:xfrm>
            <a:off x="8275320" y="4197096"/>
            <a:ext cx="384048" cy="384048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4224528"/>
            <a:ext cx="38404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24281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TF-IDF</a:t>
            </a:r>
          </a:p>
        </p:txBody>
      </p:sp>
      <p:sp>
        <p:nvSpPr>
          <p:cNvPr id="31" name="Oval 30"/>
          <p:cNvSpPr/>
          <p:nvPr/>
        </p:nvSpPr>
        <p:spPr>
          <a:xfrm>
            <a:off x="8275320" y="4818888"/>
            <a:ext cx="384048" cy="384048"/>
          </a:xfrm>
          <a:prstGeom prst="ellipse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5320" y="4846320"/>
            <a:ext cx="384048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4864607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FAFC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54406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7A646"/>
                </a:solidFill>
                <a:latin typeface="Aptos"/>
              </a:defRPr>
            </a:pPr>
            <a:r>
              <a:t>Demo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5760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1BFD0"/>
                </a:solidFill>
                <a:latin typeface="Aptos"/>
              </a:defRPr>
            </a:pPr>
            <a:r>
              <a:t>Paste email → Predict → Explain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502920"/>
            <a:ext cx="73152" cy="594360"/>
          </a:xfrm>
          <a:prstGeom prst="rect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04672" y="438912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ptos Display"/>
              </a:defRPr>
            </a:pPr>
            <a: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1BFD0"/>
                </a:solidFill>
                <a:latin typeface="Aptos"/>
              </a:defRPr>
            </a:pPr>
            <a:r>
              <a:t>From a classroom model to a practical spam-filtering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92240"/>
            <a:ext cx="11018520" cy="13716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288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1BFD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212080" cy="4480560"/>
          </a:xfrm>
          <a:prstGeom prst="roundRect">
            <a:avLst/>
          </a:prstGeom>
          <a:solidFill>
            <a:srgbClr val="142642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31720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Spam/ham classification is a practical binary ML problem.</a:t>
            </a:r>
          </a:p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TF-IDF converts unstructured email text into useful features.</a:t>
            </a:r>
          </a:p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Decision Trees provide an interpretable classification approach.</a:t>
            </a:r>
          </a:p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5-fold cross-validation gives a more robust performance estimate.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212080" cy="4480560"/>
          </a:xfrm>
          <a:prstGeom prst="roundRect">
            <a:avLst/>
          </a:prstGeom>
          <a:solidFill>
            <a:srgbClr val="12253C"/>
          </a:solidFill>
          <a:ln w="12700">
            <a:solidFill>
              <a:srgbClr val="3448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FAFC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33172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Compare Decision Tree with Random Forest / XGBoost.</a:t>
            </a:r>
          </a:p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Add URL, sender and header-based features.</a:t>
            </a:r>
          </a:p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Handle class imbalance with appropriate techniques.</a:t>
            </a:r>
          </a:p>
          <a:p>
            <a:pPr>
              <a:spcAft>
                <a:spcPts val="900"/>
              </a:spcAft>
              <a:defRPr sz="1400">
                <a:solidFill>
                  <a:srgbClr val="B1BFD0"/>
                </a:solidFill>
                <a:latin typeface="Aptos"/>
              </a:defRPr>
            </a:pPr>
            <a:r>
              <a:t>• Deploy as an email gateway or browser-based service.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5715000"/>
            <a:ext cx="3840480" cy="347472"/>
          </a:xfrm>
          <a:prstGeom prst="roundRect">
            <a:avLst/>
          </a:prstGeom>
          <a:solidFill>
            <a:srgbClr val="1D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60520" y="573328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D192D"/>
                </a:solidFill>
                <a:latin typeface="Aptos"/>
              </a:defRPr>
            </a:pPr>
            <a:r>
              <a:t>THANK YOU •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576</Words>
  <Application>Microsoft Office PowerPoint</Application>
  <PresentationFormat>Widescreen</PresentationFormat>
  <Paragraphs>165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Revanth Prabandala</cp:lastModifiedBy>
  <cp:revision>2</cp:revision>
  <dcterms:created xsi:type="dcterms:W3CDTF">2013-01-27T09:14:16Z</dcterms:created>
  <dcterms:modified xsi:type="dcterms:W3CDTF">2026-09-13T07:54:02Z</dcterms:modified>
  <cp:category/>
</cp:coreProperties>
</file>